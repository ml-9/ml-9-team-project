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4F7"/>
          </a:solidFill>
        </a:fill>
      </a:tcStyle>
    </a:wholeTbl>
    <a:band2H>
      <a:tcTxStyle b="def" i="def"/>
      <a:tcStyle>
        <a:tcBdr/>
        <a:fill>
          <a:solidFill>
            <a:srgbClr val="E7EBFB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8DAEE"/>
          </a:solidFill>
        </a:fill>
      </a:tcStyle>
    </a:wholeTbl>
    <a:band2H>
      <a:tcTxStyle b="def" i="def"/>
      <a:tcStyle>
        <a:tcBdr/>
        <a:fill>
          <a:solidFill>
            <a:srgbClr val="F4EDF7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E9D4"/>
          </a:solidFill>
        </a:fill>
      </a:tcStyle>
    </a:wholeTbl>
    <a:band2H>
      <a:tcTxStyle b="def" i="def"/>
      <a:tcStyle>
        <a:tcBdr/>
        <a:fill>
          <a:solidFill>
            <a:srgbClr val="E7F4EA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6" name="Shape 96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ptos"/>
      </a:defRPr>
    </a:lvl1pPr>
    <a:lvl2pPr indent="228600" latinLnBrk="0">
      <a:defRPr sz="1200">
        <a:latin typeface="+mn-lt"/>
        <a:ea typeface="+mn-ea"/>
        <a:cs typeface="+mn-cs"/>
        <a:sym typeface="Aptos"/>
      </a:defRPr>
    </a:lvl2pPr>
    <a:lvl3pPr indent="457200" latinLnBrk="0">
      <a:defRPr sz="1200">
        <a:latin typeface="+mn-lt"/>
        <a:ea typeface="+mn-ea"/>
        <a:cs typeface="+mn-cs"/>
        <a:sym typeface="Aptos"/>
      </a:defRPr>
    </a:lvl3pPr>
    <a:lvl4pPr indent="685800" latinLnBrk="0">
      <a:defRPr sz="1200">
        <a:latin typeface="+mn-lt"/>
        <a:ea typeface="+mn-ea"/>
        <a:cs typeface="+mn-cs"/>
        <a:sym typeface="Aptos"/>
      </a:defRPr>
    </a:lvl4pPr>
    <a:lvl5pPr indent="914400" latinLnBrk="0">
      <a:defRPr sz="1200">
        <a:latin typeface="+mn-lt"/>
        <a:ea typeface="+mn-ea"/>
        <a:cs typeface="+mn-cs"/>
        <a:sym typeface="Aptos"/>
      </a:defRPr>
    </a:lvl5pPr>
    <a:lvl6pPr indent="1143000" latinLnBrk="0">
      <a:defRPr sz="1200">
        <a:latin typeface="+mn-lt"/>
        <a:ea typeface="+mn-ea"/>
        <a:cs typeface="+mn-cs"/>
        <a:sym typeface="Aptos"/>
      </a:defRPr>
    </a:lvl6pPr>
    <a:lvl7pPr indent="1371600" latinLnBrk="0">
      <a:defRPr sz="1200">
        <a:latin typeface="+mn-lt"/>
        <a:ea typeface="+mn-ea"/>
        <a:cs typeface="+mn-cs"/>
        <a:sym typeface="Aptos"/>
      </a:defRPr>
    </a:lvl7pPr>
    <a:lvl8pPr indent="1600200" latinLnBrk="0">
      <a:defRPr sz="1200">
        <a:latin typeface="+mn-lt"/>
        <a:ea typeface="+mn-ea"/>
        <a:cs typeface="+mn-cs"/>
        <a:sym typeface="Aptos"/>
      </a:defRPr>
    </a:lvl8pPr>
    <a:lvl9pPr indent="1828800" latinLnBrk="0">
      <a:defRPr sz="1200">
        <a:latin typeface="+mn-lt"/>
        <a:ea typeface="+mn-ea"/>
        <a:cs typeface="+mn-cs"/>
        <a:sym typeface="Aptos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4" name="Shape 12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A </a:t>
            </a:r>
            <a:r>
              <a:rPr>
                <a:solidFill>
                  <a:srgbClr val="E59EDD"/>
                </a:solidFill>
              </a:rPr>
              <a:t>stroke</a:t>
            </a:r>
            <a:r>
              <a:t> is a sudden loss of brain function caused by a rupture or blockage of a blood vessel in the brain</a:t>
            </a:r>
          </a:p>
          <a:p>
            <a:pPr/>
            <a:r>
              <a:t>A stroke can change how your body moves, how you speak, how you think and even how you feel. Some people recover well, but others may face long-term challenges like physical weakness, memory problems, or depression. It also raises the risk of having another stroke.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Text"/>
          <p:cNvSpPr txBox="1"/>
          <p:nvPr>
            <p:ph type="title"/>
          </p:nvPr>
        </p:nvSpPr>
        <p:spPr>
          <a:xfrm>
            <a:off x="640080" y="1371599"/>
            <a:ext cx="6675120" cy="2951826"/>
          </a:xfrm>
          <a:prstGeom prst="rect">
            <a:avLst/>
          </a:prstGeom>
        </p:spPr>
        <p:txBody>
          <a:bodyPr/>
          <a:lstStyle>
            <a:lvl1pPr>
              <a:defRPr sz="5400"/>
            </a:lvl1pPr>
          </a:lstStyle>
          <a:p>
            <a:pPr/>
            <a:r>
              <a:t>Title Text</a:t>
            </a:r>
          </a:p>
        </p:txBody>
      </p:sp>
      <p:sp>
        <p:nvSpPr>
          <p:cNvPr id="13" name="Body Level One…"/>
          <p:cNvSpPr txBox="1"/>
          <p:nvPr>
            <p:ph type="body" sz="quarter" idx="1"/>
          </p:nvPr>
        </p:nvSpPr>
        <p:spPr>
          <a:xfrm>
            <a:off x="640080" y="4584879"/>
            <a:ext cx="6675120" cy="1287888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30000"/>
              </a:lnSpc>
              <a:buSzTx/>
              <a:buFontTx/>
              <a:buNone/>
              <a:defRPr b="1" cap="all" spc="300" sz="1800"/>
            </a:lvl1pPr>
            <a:lvl2pPr marL="0" indent="457200">
              <a:lnSpc>
                <a:spcPct val="130000"/>
              </a:lnSpc>
              <a:buSzTx/>
              <a:buFontTx/>
              <a:buNone/>
              <a:defRPr b="1" cap="all" spc="300" sz="1800"/>
            </a:lvl2pPr>
            <a:lvl3pPr marL="0" indent="914400">
              <a:lnSpc>
                <a:spcPct val="130000"/>
              </a:lnSpc>
              <a:buSzTx/>
              <a:buFontTx/>
              <a:buNone/>
              <a:defRPr b="1" cap="all" spc="300" sz="1800"/>
            </a:lvl3pPr>
            <a:lvl4pPr marL="0" indent="1371600">
              <a:lnSpc>
                <a:spcPct val="130000"/>
              </a:lnSpc>
              <a:buSzTx/>
              <a:buFontTx/>
              <a:buNone/>
              <a:defRPr b="1" cap="all" spc="300" sz="1800"/>
            </a:lvl4pPr>
            <a:lvl5pPr marL="0" indent="1828800">
              <a:lnSpc>
                <a:spcPct val="130000"/>
              </a:lnSpc>
              <a:buSzTx/>
              <a:buFontTx/>
              <a:buNone/>
              <a:defRPr b="1" cap="all" spc="300"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idx="1"/>
          </p:nvPr>
        </p:nvSpPr>
        <p:spPr>
          <a:xfrm>
            <a:off x="640080" y="2633472"/>
            <a:ext cx="10890929" cy="356616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" name="Title Text"/>
          <p:cNvSpPr txBox="1"/>
          <p:nvPr>
            <p:ph type="title"/>
          </p:nvPr>
        </p:nvSpPr>
        <p:spPr>
          <a:xfrm>
            <a:off x="640080" y="1291366"/>
            <a:ext cx="9214885" cy="3159975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pPr/>
            <a:r>
              <a:t>Title Text</a:t>
            </a:r>
          </a:p>
        </p:txBody>
      </p:sp>
      <p:sp>
        <p:nvSpPr>
          <p:cNvPr id="32" name="Body Level One…"/>
          <p:cNvSpPr txBox="1"/>
          <p:nvPr>
            <p:ph type="body" sz="quarter" idx="1"/>
          </p:nvPr>
        </p:nvSpPr>
        <p:spPr>
          <a:xfrm>
            <a:off x="640080" y="5018566"/>
            <a:ext cx="7907080" cy="1073890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</a:lvl1pPr>
            <a:lvl2pPr marL="0" indent="457200">
              <a:buSzTx/>
              <a:buFontTx/>
              <a:buNone/>
            </a:lvl2pPr>
            <a:lvl3pPr marL="0" indent="914400">
              <a:buSzTx/>
              <a:buFontTx/>
              <a:buNone/>
            </a:lvl3pPr>
            <a:lvl4pPr marL="0" indent="1371600">
              <a:buSzTx/>
              <a:buFontTx/>
              <a:buNone/>
            </a:lvl4pPr>
            <a:lvl5pPr marL="0" indent="1828800">
              <a:buSzTx/>
              <a:buFontTx/>
              <a:buNone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" name="Straight Connector 6"/>
          <p:cNvSpPr/>
          <p:nvPr/>
        </p:nvSpPr>
        <p:spPr>
          <a:xfrm>
            <a:off x="716280" y="4715233"/>
            <a:ext cx="978863" cy="1"/>
          </a:xfrm>
          <a:prstGeom prst="line">
            <a:avLst/>
          </a:prstGeom>
          <a:ln w="762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2" name="Body Level One…"/>
          <p:cNvSpPr txBox="1"/>
          <p:nvPr>
            <p:ph type="body" sz="half" idx="1"/>
          </p:nvPr>
        </p:nvSpPr>
        <p:spPr>
          <a:xfrm>
            <a:off x="640080" y="2633472"/>
            <a:ext cx="5212080" cy="356616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Text"/>
          <p:cNvSpPr txBox="1"/>
          <p:nvPr>
            <p:ph type="title"/>
          </p:nvPr>
        </p:nvSpPr>
        <p:spPr>
          <a:xfrm>
            <a:off x="640079" y="1371599"/>
            <a:ext cx="10890930" cy="939754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1" name="Body Level One…"/>
          <p:cNvSpPr txBox="1"/>
          <p:nvPr>
            <p:ph type="body" sz="quarter" idx="1"/>
          </p:nvPr>
        </p:nvSpPr>
        <p:spPr>
          <a:xfrm>
            <a:off x="640079" y="2311351"/>
            <a:ext cx="5212080" cy="695374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cap="all" spc="300" sz="1800"/>
            </a:lvl1pPr>
            <a:lvl2pPr marL="0" indent="457200">
              <a:buSzTx/>
              <a:buFontTx/>
              <a:buNone/>
              <a:defRPr b="1" cap="all" spc="300" sz="1800"/>
            </a:lvl2pPr>
            <a:lvl3pPr marL="0" indent="914400">
              <a:buSzTx/>
              <a:buFontTx/>
              <a:buNone/>
              <a:defRPr b="1" cap="all" spc="300" sz="1800"/>
            </a:lvl3pPr>
            <a:lvl4pPr marL="0" indent="1371600">
              <a:buSzTx/>
              <a:buFontTx/>
              <a:buNone/>
              <a:defRPr b="1" cap="all" spc="300" sz="1800"/>
            </a:lvl4pPr>
            <a:lvl5pPr marL="0" indent="1828800">
              <a:buSzTx/>
              <a:buFontTx/>
              <a:buNone/>
              <a:defRPr b="1" cap="all" spc="300"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2" name="Text Placeholder 4"/>
          <p:cNvSpPr/>
          <p:nvPr>
            <p:ph type="body" sz="quarter" idx="21"/>
          </p:nvPr>
        </p:nvSpPr>
        <p:spPr>
          <a:xfrm>
            <a:off x="6318927" y="2311351"/>
            <a:ext cx="5212081" cy="695374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cap="all" spc="300" sz="1800"/>
            </a:pP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tle Text"/>
          <p:cNvSpPr txBox="1"/>
          <p:nvPr>
            <p:ph type="title"/>
          </p:nvPr>
        </p:nvSpPr>
        <p:spPr>
          <a:xfrm>
            <a:off x="640080" y="1371600"/>
            <a:ext cx="3859398" cy="1451724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pPr/>
            <a:r>
              <a:t>Title Text</a:t>
            </a:r>
          </a:p>
        </p:txBody>
      </p:sp>
      <p:sp>
        <p:nvSpPr>
          <p:cNvPr id="77" name="Body Level One…"/>
          <p:cNvSpPr txBox="1"/>
          <p:nvPr>
            <p:ph type="body" idx="1"/>
          </p:nvPr>
        </p:nvSpPr>
        <p:spPr>
          <a:xfrm>
            <a:off x="4936518" y="1031001"/>
            <a:ext cx="6594491" cy="516636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 marL="531876" indent="-266700">
              <a:defRPr sz="2800"/>
            </a:lvl2pPr>
            <a:lvl3pPr marL="822959" indent="-320039">
              <a:defRPr sz="2800"/>
            </a:lvl3pPr>
            <a:lvl4pPr marL="1210310" indent="-444500">
              <a:defRPr sz="2800"/>
            </a:lvl4pPr>
            <a:lvl5pPr marL="1425447" indent="-355600"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8" name="Text Placeholder 3"/>
          <p:cNvSpPr/>
          <p:nvPr>
            <p:ph type="body" sz="quarter" idx="21"/>
          </p:nvPr>
        </p:nvSpPr>
        <p:spPr>
          <a:xfrm>
            <a:off x="640080" y="2972167"/>
            <a:ext cx="3859398" cy="322682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Text"/>
          <p:cNvSpPr txBox="1"/>
          <p:nvPr>
            <p:ph type="title"/>
          </p:nvPr>
        </p:nvSpPr>
        <p:spPr>
          <a:xfrm>
            <a:off x="640080" y="1371600"/>
            <a:ext cx="3859398" cy="1451724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pPr/>
            <a:r>
              <a:t>Title Text</a:t>
            </a:r>
          </a:p>
        </p:txBody>
      </p:sp>
      <p:sp>
        <p:nvSpPr>
          <p:cNvPr id="87" name="Picture Placeholder 2"/>
          <p:cNvSpPr/>
          <p:nvPr>
            <p:ph type="pic" idx="21"/>
          </p:nvPr>
        </p:nvSpPr>
        <p:spPr>
          <a:xfrm>
            <a:off x="4937759" y="1033271"/>
            <a:ext cx="6592825" cy="516636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8" name="Body Level One…"/>
          <p:cNvSpPr txBox="1"/>
          <p:nvPr>
            <p:ph type="body" sz="quarter" idx="1"/>
          </p:nvPr>
        </p:nvSpPr>
        <p:spPr>
          <a:xfrm>
            <a:off x="640080" y="2972167"/>
            <a:ext cx="3859398" cy="3226825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8"/>
          <p:cNvSpPr/>
          <p:nvPr/>
        </p:nvSpPr>
        <p:spPr>
          <a:xfrm>
            <a:off x="713232" y="1031001"/>
            <a:ext cx="978862" cy="1"/>
          </a:xfrm>
          <a:prstGeom prst="line">
            <a:avLst/>
          </a:prstGeom>
          <a:ln w="762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640079" y="1371600"/>
            <a:ext cx="10890930" cy="1097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Body Level One…"/>
          <p:cNvSpPr txBox="1"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/>
          <p:nvPr>
            <p:ph type="sldNum" sz="quarter" idx="2"/>
          </p:nvPr>
        </p:nvSpPr>
        <p:spPr>
          <a:xfrm>
            <a:off x="11223532" y="6431562"/>
            <a:ext cx="307478" cy="2147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b="1" cap="all" spc="300" sz="9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0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0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0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0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0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0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0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0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0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228600" marR="0" indent="-22860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Pct val="87000"/>
        <a:buFont typeface="Arial"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519176" marR="0" indent="-25400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Pct val="87000"/>
        <a:buFont typeface="Arial"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788669" marR="0" indent="-28575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Pct val="87000"/>
        <a:buFont typeface="Arial"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1174024" marR="0" indent="-408214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Pct val="87000"/>
        <a:buFont typeface="Arial"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1396419" marR="0" indent="-326571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Pct val="87000"/>
        <a:buFont typeface="Arial"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2540000" marR="0" indent="-25400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2997200" marR="0" indent="-25400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3454400" marR="0" indent="-25400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3911600" marR="0" indent="-25400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all" i="0" spc="30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all" i="0" spc="30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all" i="0" spc="30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all" i="0" spc="30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all" i="0" spc="30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all" i="0" spc="30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all" i="0" spc="30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all" i="0" spc="30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all" i="0" spc="30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ohfoundation.ca/all-about-stroke/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hyperlink" Target="https://www.ahajournals.org/doi/10.1161/STROKEAHA.123.043369" TargetMode="Externa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 Placeholder 33"/>
          <p:cNvSpPr txBox="1"/>
          <p:nvPr>
            <p:ph type="subTitle" sz="quarter" idx="1"/>
          </p:nvPr>
        </p:nvSpPr>
        <p:spPr>
          <a:xfrm>
            <a:off x="1764792" y="1563625"/>
            <a:ext cx="1984249" cy="950976"/>
          </a:xfrm>
          <a:prstGeom prst="rect">
            <a:avLst/>
          </a:prstGeom>
        </p:spPr>
        <p:txBody>
          <a:bodyPr anchor="t"/>
          <a:lstStyle>
            <a:lvl1pPr>
              <a:defRPr sz="3600">
                <a:solidFill>
                  <a:srgbClr val="0070C0"/>
                </a:solidFill>
              </a:defRPr>
            </a:lvl1pPr>
          </a:lstStyle>
          <a:p>
            <a:pPr/>
            <a:r>
              <a:t>50,000</a:t>
            </a:r>
          </a:p>
        </p:txBody>
      </p:sp>
      <p:sp>
        <p:nvSpPr>
          <p:cNvPr id="99" name="Title 37"/>
          <p:cNvSpPr txBox="1"/>
          <p:nvPr>
            <p:ph type="ctrTitle"/>
          </p:nvPr>
        </p:nvSpPr>
        <p:spPr>
          <a:xfrm>
            <a:off x="640079" y="201167"/>
            <a:ext cx="11018522" cy="1133857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/>
            <a:r>
              <a:t>The Cost of Stroke in Canada</a:t>
            </a:r>
          </a:p>
        </p:txBody>
      </p:sp>
      <p:sp>
        <p:nvSpPr>
          <p:cNvPr id="100" name="Content Placeholder 5"/>
          <p:cNvSpPr txBox="1"/>
          <p:nvPr/>
        </p:nvSpPr>
        <p:spPr>
          <a:xfrm>
            <a:off x="1856231" y="1340897"/>
            <a:ext cx="1914361" cy="1286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spcBef>
                <a:spcPts val="1000"/>
              </a:spcBef>
              <a:defRPr sz="2000"/>
            </a:lvl1pPr>
          </a:lstStyle>
          <a:p>
            <a:pPr/>
            <a:r>
              <a:t>About</a:t>
            </a:r>
          </a:p>
        </p:txBody>
      </p:sp>
      <p:sp>
        <p:nvSpPr>
          <p:cNvPr id="101" name="Content Placeholder 5"/>
          <p:cNvSpPr txBox="1"/>
          <p:nvPr/>
        </p:nvSpPr>
        <p:spPr>
          <a:xfrm>
            <a:off x="1856231" y="2206975"/>
            <a:ext cx="3794761" cy="1286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spcBef>
                <a:spcPts val="1000"/>
              </a:spcBef>
              <a:defRPr sz="2000"/>
            </a:lvl1pPr>
          </a:lstStyle>
          <a:p>
            <a:pPr/>
            <a:r>
              <a:t>people suffer strokes in Canada each year</a:t>
            </a:r>
          </a:p>
        </p:txBody>
      </p:sp>
      <p:pic>
        <p:nvPicPr>
          <p:cNvPr id="102" name="Graphic 58" descr="Graphic 5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6379" y="1532920"/>
            <a:ext cx="1286702" cy="1286702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TextBox 61"/>
          <p:cNvSpPr txBox="1"/>
          <p:nvPr/>
        </p:nvSpPr>
        <p:spPr>
          <a:xfrm>
            <a:off x="47243" y="6550222"/>
            <a:ext cx="6003038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 u="sng">
                <a:solidFill>
                  <a:schemeClr val="accent6"/>
                </a:solidFill>
                <a:uFill>
                  <a:solidFill>
                    <a:schemeClr val="accent6"/>
                  </a:solidFill>
                </a:uFill>
                <a:hlinkClick r:id="rId4" invalidUrl="" action="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70C0"/>
                </a:solidFill>
                <a:uFillTx/>
              </a:defRPr>
            </a:pPr>
            <a:r>
              <a:rPr u="sng">
                <a:solidFill>
                  <a:schemeClr val="accent6"/>
                </a:solidFill>
                <a:uFill>
                  <a:solidFill>
                    <a:schemeClr val="accent6"/>
                  </a:solidFill>
                </a:uFill>
                <a:hlinkClick r:id="rId4" invalidUrl="" action="" tgtFrame="" tooltip="" history="1" highlightClick="0" endSnd="0"/>
              </a:rPr>
              <a:t>All about stroke | The Ottawa Hospital Foundation</a:t>
            </a:r>
          </a:p>
        </p:txBody>
      </p:sp>
      <p:pic>
        <p:nvPicPr>
          <p:cNvPr id="104" name="Graphic 63" descr="Graphic 6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66927" y="3442973"/>
            <a:ext cx="1179577" cy="1179577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Content Placeholder 5"/>
          <p:cNvSpPr txBox="1"/>
          <p:nvPr/>
        </p:nvSpPr>
        <p:spPr>
          <a:xfrm>
            <a:off x="1892808" y="4274034"/>
            <a:ext cx="3794761" cy="1286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spcBef>
                <a:spcPts val="1000"/>
              </a:spcBef>
              <a:defRPr sz="2000"/>
            </a:lvl1pPr>
          </a:lstStyle>
          <a:p>
            <a:pPr/>
            <a:r>
              <a:t>risk of stroke increases rapidly</a:t>
            </a:r>
          </a:p>
        </p:txBody>
      </p:sp>
      <p:sp>
        <p:nvSpPr>
          <p:cNvPr id="106" name="Content Placeholder 5"/>
          <p:cNvSpPr txBox="1"/>
          <p:nvPr/>
        </p:nvSpPr>
        <p:spPr>
          <a:xfrm>
            <a:off x="1874519" y="3442973"/>
            <a:ext cx="1914362" cy="1286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spcBef>
                <a:spcPts val="1000"/>
              </a:spcBef>
              <a:defRPr sz="2000"/>
            </a:lvl1pPr>
          </a:lstStyle>
          <a:p>
            <a:pPr/>
            <a:r>
              <a:t>After age</a:t>
            </a:r>
          </a:p>
        </p:txBody>
      </p:sp>
      <p:sp>
        <p:nvSpPr>
          <p:cNvPr id="107" name="Text Placeholder 33"/>
          <p:cNvSpPr txBox="1"/>
          <p:nvPr/>
        </p:nvSpPr>
        <p:spPr>
          <a:xfrm>
            <a:off x="1864721" y="3630683"/>
            <a:ext cx="1892809" cy="950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130000"/>
              </a:lnSpc>
              <a:spcBef>
                <a:spcPts val="1000"/>
              </a:spcBef>
              <a:defRPr b="1" cap="all" spc="300" sz="3600">
                <a:solidFill>
                  <a:srgbClr val="0070C0"/>
                </a:solidFill>
              </a:defRPr>
            </a:lvl1pPr>
          </a:lstStyle>
          <a:p>
            <a:pPr/>
            <a:r>
              <a:t>55+</a:t>
            </a:r>
          </a:p>
        </p:txBody>
      </p:sp>
      <p:sp>
        <p:nvSpPr>
          <p:cNvPr id="108" name="Content Placeholder 5"/>
          <p:cNvSpPr txBox="1"/>
          <p:nvPr/>
        </p:nvSpPr>
        <p:spPr>
          <a:xfrm>
            <a:off x="1892808" y="4957609"/>
            <a:ext cx="1914361" cy="1286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spcBef>
                <a:spcPts val="1000"/>
              </a:spcBef>
              <a:defRPr sz="2000"/>
            </a:lvl1pPr>
          </a:lstStyle>
          <a:p>
            <a:pPr/>
            <a:r>
              <a:t>Approximately</a:t>
            </a:r>
          </a:p>
        </p:txBody>
      </p:sp>
      <p:sp>
        <p:nvSpPr>
          <p:cNvPr id="109" name="Text Placeholder 33"/>
          <p:cNvSpPr txBox="1"/>
          <p:nvPr/>
        </p:nvSpPr>
        <p:spPr>
          <a:xfrm>
            <a:off x="1914359" y="5235268"/>
            <a:ext cx="1892810" cy="950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130000"/>
              </a:lnSpc>
              <a:spcBef>
                <a:spcPts val="1000"/>
              </a:spcBef>
              <a:defRPr b="1" spc="300" sz="3600">
                <a:solidFill>
                  <a:srgbClr val="0070C0"/>
                </a:solidFill>
              </a:defRPr>
            </a:lvl1pPr>
          </a:lstStyle>
          <a:p>
            <a:pPr/>
            <a:r>
              <a:t>1 in 4</a:t>
            </a:r>
          </a:p>
        </p:txBody>
      </p:sp>
      <p:sp>
        <p:nvSpPr>
          <p:cNvPr id="110" name="Content Placeholder 5"/>
          <p:cNvSpPr txBox="1"/>
          <p:nvPr/>
        </p:nvSpPr>
        <p:spPr>
          <a:xfrm>
            <a:off x="1874519" y="5878619"/>
            <a:ext cx="3794762" cy="1286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spcBef>
                <a:spcPts val="1000"/>
              </a:spcBef>
              <a:defRPr sz="2000"/>
            </a:lvl1pPr>
          </a:lstStyle>
          <a:p>
            <a:pPr/>
            <a:r>
              <a:t>living with stroke are &lt; age 65</a:t>
            </a:r>
          </a:p>
        </p:txBody>
      </p:sp>
      <p:grpSp>
        <p:nvGrpSpPr>
          <p:cNvPr id="115" name="Group 75"/>
          <p:cNvGrpSpPr/>
          <p:nvPr/>
        </p:nvGrpSpPr>
        <p:grpSpPr>
          <a:xfrm>
            <a:off x="740663" y="5113056"/>
            <a:ext cx="1004970" cy="1133858"/>
            <a:chOff x="0" y="0"/>
            <a:chExt cx="1004968" cy="1133857"/>
          </a:xfrm>
        </p:grpSpPr>
        <p:pic>
          <p:nvPicPr>
            <p:cNvPr id="111" name="Graphic 71" descr="Graphic 71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0" y="-1"/>
              <a:ext cx="652679" cy="57531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2" name="Graphic 72" descr="Graphic 72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352289" y="-1"/>
              <a:ext cx="652680" cy="57531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3" name="Graphic 73" descr="Graphic 73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0" y="558544"/>
              <a:ext cx="652679" cy="5753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4" name="Graphic 74" descr="Graphic 74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352289" y="558544"/>
              <a:ext cx="652680" cy="5753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16" name="Rectangle: Rounded Corners 76"/>
          <p:cNvSpPr/>
          <p:nvPr/>
        </p:nvSpPr>
        <p:spPr>
          <a:xfrm>
            <a:off x="6701683" y="1572769"/>
            <a:ext cx="4600301" cy="2267712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 w="19050">
            <a:solidFill>
              <a:srgbClr val="0B3163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" name="Text Placeholder 33"/>
          <p:cNvSpPr txBox="1"/>
          <p:nvPr/>
        </p:nvSpPr>
        <p:spPr>
          <a:xfrm>
            <a:off x="7154745" y="2323246"/>
            <a:ext cx="3699183" cy="15172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130000"/>
              </a:lnSpc>
              <a:spcBef>
                <a:spcPts val="1000"/>
              </a:spcBef>
              <a:defRPr b="1" spc="300" sz="3600">
                <a:solidFill>
                  <a:srgbClr val="FFFFFF"/>
                </a:solidFill>
              </a:defRPr>
            </a:lvl1pPr>
          </a:lstStyle>
          <a:p>
            <a:pPr/>
            <a:r>
              <a:t>$30,000/yr </a:t>
            </a:r>
          </a:p>
        </p:txBody>
      </p:sp>
      <p:pic>
        <p:nvPicPr>
          <p:cNvPr id="118" name="Graphic 79" descr="Graphic 79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 flipH="1">
            <a:off x="9762743" y="2267711"/>
            <a:ext cx="737617" cy="914401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Content Placeholder 5"/>
          <p:cNvSpPr txBox="1"/>
          <p:nvPr/>
        </p:nvSpPr>
        <p:spPr>
          <a:xfrm>
            <a:off x="7145602" y="1819655"/>
            <a:ext cx="3699182" cy="1286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spcBef>
                <a:spcPts val="1000"/>
              </a:spcBef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Attributable cost of stroke about</a:t>
            </a:r>
          </a:p>
        </p:txBody>
      </p:sp>
      <p:sp>
        <p:nvSpPr>
          <p:cNvPr id="120" name="Content Placeholder 5"/>
          <p:cNvSpPr txBox="1"/>
          <p:nvPr/>
        </p:nvSpPr>
        <p:spPr>
          <a:xfrm>
            <a:off x="7142554" y="3161893"/>
            <a:ext cx="3699182" cy="1286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spcBef>
                <a:spcPts val="1000"/>
              </a:spcBef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per person in Ontario, Canada</a:t>
            </a:r>
          </a:p>
        </p:txBody>
      </p:sp>
      <p:sp>
        <p:nvSpPr>
          <p:cNvPr id="121" name="TextBox 83"/>
          <p:cNvSpPr txBox="1"/>
          <p:nvPr/>
        </p:nvSpPr>
        <p:spPr>
          <a:xfrm>
            <a:off x="6778346" y="6554236"/>
            <a:ext cx="5419751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 u="sng">
                <a:solidFill>
                  <a:schemeClr val="accent6"/>
                </a:solidFill>
                <a:uFill>
                  <a:solidFill>
                    <a:schemeClr val="accent6"/>
                  </a:solidFill>
                </a:uFill>
                <a:hlinkClick r:id="rId9" invalidUrl="" action="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70C0"/>
                </a:solidFill>
                <a:uFillTx/>
              </a:defRPr>
            </a:pPr>
            <a:r>
              <a:rPr u="sng">
                <a:solidFill>
                  <a:schemeClr val="accent6"/>
                </a:solidFill>
                <a:uFill>
                  <a:solidFill>
                    <a:schemeClr val="accent6"/>
                  </a:solidFill>
                </a:uFill>
                <a:hlinkClick r:id="rId9" invalidUrl="" action="" tgtFrame="" tooltip="" history="1" highlightClick="0" endSnd="0"/>
              </a:rPr>
              <a:t>https://www.ahajournals.org/doi/10.1161/STROKEAHA.123.043369</a:t>
            </a:r>
          </a:p>
        </p:txBody>
      </p:sp>
      <p:sp>
        <p:nvSpPr>
          <p:cNvPr id="122" name="Content Placeholder 5"/>
          <p:cNvSpPr txBox="1"/>
          <p:nvPr/>
        </p:nvSpPr>
        <p:spPr>
          <a:xfrm>
            <a:off x="7269262" y="4419525"/>
            <a:ext cx="3572473" cy="1731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spcBef>
                <a:spcPts val="1000"/>
              </a:spcBef>
              <a:defRPr i="1" sz="2000"/>
            </a:lvl1pPr>
          </a:lstStyle>
          <a:p>
            <a:pPr/>
            <a:r>
              <a:t>Identifying stroke risk factors is essential for improving patient outcomes and reducing costs on health care system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: Rounded Corners 16"/>
          <p:cNvSpPr/>
          <p:nvPr/>
        </p:nvSpPr>
        <p:spPr>
          <a:xfrm>
            <a:off x="4339354" y="2117558"/>
            <a:ext cx="3132292" cy="2804392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 w="19050">
            <a:solidFill>
              <a:srgbClr val="0070C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Title 1"/>
          <p:cNvSpPr txBox="1"/>
          <p:nvPr>
            <p:ph type="title"/>
          </p:nvPr>
        </p:nvSpPr>
        <p:spPr>
          <a:xfrm>
            <a:off x="640078" y="281838"/>
            <a:ext cx="10890931" cy="1097282"/>
          </a:xfrm>
          <a:prstGeom prst="rect">
            <a:avLst/>
          </a:prstGeom>
        </p:spPr>
        <p:txBody>
          <a:bodyPr/>
          <a:lstStyle/>
          <a:p>
            <a:pPr/>
            <a:r>
              <a:t>ML-9 Team Project: Stroke Prediction</a:t>
            </a:r>
          </a:p>
        </p:txBody>
      </p:sp>
      <p:sp>
        <p:nvSpPr>
          <p:cNvPr id="128" name="Content Placeholder 5"/>
          <p:cNvSpPr txBox="1"/>
          <p:nvPr>
            <p:ph type="body" sz="quarter" idx="1"/>
          </p:nvPr>
        </p:nvSpPr>
        <p:spPr>
          <a:xfrm>
            <a:off x="530351" y="1587400"/>
            <a:ext cx="1842256" cy="500583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  <a:defRPr b="1"/>
            </a:lvl1pPr>
          </a:lstStyle>
          <a:p>
            <a:pPr/>
            <a:r>
              <a:t>Dataset</a:t>
            </a:r>
          </a:p>
        </p:txBody>
      </p:sp>
      <p:grpSp>
        <p:nvGrpSpPr>
          <p:cNvPr id="131" name="Group 15"/>
          <p:cNvGrpSpPr/>
          <p:nvPr/>
        </p:nvGrpSpPr>
        <p:grpSpPr>
          <a:xfrm>
            <a:off x="3456437" y="5250631"/>
            <a:ext cx="586767" cy="695926"/>
            <a:chOff x="0" y="0"/>
            <a:chExt cx="586765" cy="695925"/>
          </a:xfrm>
        </p:grpSpPr>
        <p:pic>
          <p:nvPicPr>
            <p:cNvPr id="129" name="Graphic 12" descr="Graphic 12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586766" cy="6959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0" name="Graphic 14" descr="Graphic 14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85161" y="167813"/>
              <a:ext cx="405751" cy="48123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32" name="Content Placeholder 5"/>
          <p:cNvSpPr txBox="1"/>
          <p:nvPr/>
        </p:nvSpPr>
        <p:spPr>
          <a:xfrm>
            <a:off x="576071" y="2020249"/>
            <a:ext cx="3426125" cy="2052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lnSpc>
                <a:spcPct val="120000"/>
              </a:lnSpc>
              <a:defRPr sz="1900"/>
            </a:pPr>
            <a:r>
              <a:t>11 features, 5110 records:</a:t>
            </a:r>
            <a:endParaRPr sz="2000"/>
          </a:p>
          <a:p>
            <a:pPr marL="228600" indent="-228600">
              <a:lnSpc>
                <a:spcPct val="120000"/>
              </a:lnSpc>
              <a:buSzPct val="87000"/>
              <a:buChar char="✓"/>
              <a:defRPr sz="1600"/>
            </a:pPr>
            <a:r>
              <a:t>Demographic </a:t>
            </a:r>
            <a:endParaRPr sz="2000"/>
          </a:p>
          <a:p>
            <a:pPr marL="228600" indent="-228600">
              <a:lnSpc>
                <a:spcPct val="120000"/>
              </a:lnSpc>
              <a:buSzPct val="87000"/>
              <a:buChar char="✓"/>
              <a:defRPr sz="1600"/>
            </a:pPr>
            <a:r>
              <a:t>Residence type</a:t>
            </a:r>
          </a:p>
          <a:p>
            <a:pPr marL="228600" indent="-228600">
              <a:lnSpc>
                <a:spcPct val="120000"/>
              </a:lnSpc>
              <a:buSzPct val="87000"/>
              <a:buChar char="✓"/>
              <a:defRPr sz="1600"/>
            </a:pPr>
            <a:r>
              <a:t>Health indicators</a:t>
            </a:r>
            <a:endParaRPr sz="2000"/>
          </a:p>
          <a:p>
            <a:pPr marL="228600" indent="-228600">
              <a:lnSpc>
                <a:spcPct val="120000"/>
              </a:lnSpc>
              <a:buSzPct val="87000"/>
              <a:buChar char="✓"/>
              <a:defRPr sz="1600"/>
            </a:pPr>
            <a:r>
              <a:t>Socioeconomic</a:t>
            </a:r>
            <a:endParaRPr sz="2000"/>
          </a:p>
          <a:p>
            <a:pPr marL="228600" indent="-228600">
              <a:lnSpc>
                <a:spcPct val="120000"/>
              </a:lnSpc>
              <a:buSzPct val="87000"/>
              <a:buChar char="✓"/>
              <a:defRPr sz="1600"/>
            </a:pPr>
            <a:r>
              <a:t>Stroke occurrence</a:t>
            </a:r>
          </a:p>
        </p:txBody>
      </p:sp>
      <p:sp>
        <p:nvSpPr>
          <p:cNvPr id="133" name="Content Placeholder 5"/>
          <p:cNvSpPr txBox="1"/>
          <p:nvPr/>
        </p:nvSpPr>
        <p:spPr>
          <a:xfrm>
            <a:off x="704087" y="4662291"/>
            <a:ext cx="1750816" cy="500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120000"/>
              </a:lnSpc>
              <a:spcBef>
                <a:spcPts val="1000"/>
              </a:spcBef>
              <a:defRPr b="1" sz="2000"/>
            </a:lvl1pPr>
          </a:lstStyle>
          <a:p>
            <a:pPr/>
            <a:r>
              <a:t>Aims</a:t>
            </a:r>
          </a:p>
        </p:txBody>
      </p:sp>
      <p:pic>
        <p:nvPicPr>
          <p:cNvPr id="134" name="Graphic 44" descr="Graphic 4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 rot="5400000">
            <a:off x="3352012" y="4142652"/>
            <a:ext cx="914401" cy="914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5" name="Graphic 45" descr="Graphic 4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 rot="9771242">
            <a:off x="7700374" y="4197275"/>
            <a:ext cx="914401" cy="914401"/>
          </a:xfrm>
          <a:prstGeom prst="rect">
            <a:avLst/>
          </a:prstGeom>
          <a:ln w="12700">
            <a:miter lim="400000"/>
          </a:ln>
        </p:spPr>
      </p:pic>
      <p:sp>
        <p:nvSpPr>
          <p:cNvPr id="136" name="Content Placeholder 5"/>
          <p:cNvSpPr txBox="1"/>
          <p:nvPr/>
        </p:nvSpPr>
        <p:spPr>
          <a:xfrm>
            <a:off x="8487876" y="1587400"/>
            <a:ext cx="2997412" cy="500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120000"/>
              </a:lnSpc>
              <a:spcBef>
                <a:spcPts val="1000"/>
              </a:spcBef>
              <a:defRPr b="1" sz="2000"/>
            </a:lvl1pPr>
          </a:lstStyle>
          <a:p>
            <a:pPr/>
            <a:r>
              <a:t>Risks &amp; Unknowns</a:t>
            </a:r>
          </a:p>
        </p:txBody>
      </p:sp>
      <p:sp>
        <p:nvSpPr>
          <p:cNvPr id="137" name="Content Placeholder 5"/>
          <p:cNvSpPr txBox="1"/>
          <p:nvPr/>
        </p:nvSpPr>
        <p:spPr>
          <a:xfrm>
            <a:off x="8432525" y="2020249"/>
            <a:ext cx="3637423" cy="12633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28600" indent="-228600">
              <a:lnSpc>
                <a:spcPct val="150000"/>
              </a:lnSpc>
              <a:buSzPct val="87000"/>
              <a:buFont typeface="Arial"/>
              <a:buChar char="•"/>
              <a:defRPr sz="1500"/>
            </a:pPr>
            <a:r>
              <a:t>Class imbalance (limited stroke data)</a:t>
            </a:r>
            <a:endParaRPr sz="2000"/>
          </a:p>
          <a:p>
            <a:pPr marL="228600" indent="-228600">
              <a:lnSpc>
                <a:spcPct val="150000"/>
              </a:lnSpc>
              <a:buSzPct val="87000"/>
              <a:buFont typeface="Arial"/>
              <a:buChar char="•"/>
              <a:defRPr sz="1500"/>
            </a:pPr>
            <a:r>
              <a:t>Missing data, general quality</a:t>
            </a:r>
            <a:endParaRPr sz="2000"/>
          </a:p>
          <a:p>
            <a:pPr marL="228600" indent="-228600">
              <a:lnSpc>
                <a:spcPct val="150000"/>
              </a:lnSpc>
              <a:buSzPct val="87000"/>
              <a:buFont typeface="Arial"/>
              <a:buChar char="•"/>
              <a:defRPr sz="1500"/>
            </a:pPr>
            <a:r>
              <a:t>Generalizability</a:t>
            </a:r>
            <a:endParaRPr sz="2000"/>
          </a:p>
          <a:p>
            <a:pPr marL="228600" indent="-228600">
              <a:lnSpc>
                <a:spcPct val="150000"/>
              </a:lnSpc>
              <a:buSzPct val="87000"/>
              <a:buFont typeface="Arial"/>
              <a:buChar char="•"/>
              <a:defRPr sz="1500"/>
            </a:pPr>
            <a:r>
              <a:t>Model complexity</a:t>
            </a:r>
          </a:p>
        </p:txBody>
      </p:sp>
      <p:sp>
        <p:nvSpPr>
          <p:cNvPr id="138" name="Content Placeholder 5"/>
          <p:cNvSpPr txBox="1"/>
          <p:nvPr/>
        </p:nvSpPr>
        <p:spPr>
          <a:xfrm>
            <a:off x="8679211" y="4557162"/>
            <a:ext cx="3141533" cy="500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120000"/>
              </a:lnSpc>
              <a:spcBef>
                <a:spcPts val="1000"/>
              </a:spcBef>
              <a:defRPr b="1" sz="2000"/>
            </a:lvl1pPr>
          </a:lstStyle>
          <a:p>
            <a:pPr/>
            <a:r>
              <a:t>Outcomes</a:t>
            </a:r>
          </a:p>
        </p:txBody>
      </p:sp>
      <p:pic>
        <p:nvPicPr>
          <p:cNvPr id="139" name="Graphic 6" descr="Graphic 6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06123" y="5250631"/>
            <a:ext cx="695927" cy="695926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TextBox 11"/>
          <p:cNvSpPr txBox="1"/>
          <p:nvPr/>
        </p:nvSpPr>
        <p:spPr>
          <a:xfrm>
            <a:off x="102258" y="6007858"/>
            <a:ext cx="1075641" cy="517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500"/>
            </a:lvl1pPr>
          </a:lstStyle>
          <a:p>
            <a:pPr/>
            <a:r>
              <a:t>Baseline models</a:t>
            </a:r>
          </a:p>
        </p:txBody>
      </p:sp>
      <p:sp>
        <p:nvSpPr>
          <p:cNvPr id="141" name="TextBox 13"/>
          <p:cNvSpPr txBox="1"/>
          <p:nvPr/>
        </p:nvSpPr>
        <p:spPr>
          <a:xfrm>
            <a:off x="3128195" y="6007858"/>
            <a:ext cx="1321098" cy="517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500"/>
            </a:lvl1pPr>
          </a:lstStyle>
          <a:p>
            <a:pPr/>
            <a:r>
              <a:t>Identify key indicators</a:t>
            </a:r>
          </a:p>
        </p:txBody>
      </p:sp>
      <p:sp>
        <p:nvSpPr>
          <p:cNvPr id="142" name="TextBox 7"/>
          <p:cNvSpPr txBox="1"/>
          <p:nvPr/>
        </p:nvSpPr>
        <p:spPr>
          <a:xfrm>
            <a:off x="4533551" y="2117560"/>
            <a:ext cx="2712971" cy="792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 Techniques &amp; Technologies</a:t>
            </a:r>
          </a:p>
        </p:txBody>
      </p:sp>
      <p:sp>
        <p:nvSpPr>
          <p:cNvPr id="143" name="TextBox 22"/>
          <p:cNvSpPr txBox="1"/>
          <p:nvPr/>
        </p:nvSpPr>
        <p:spPr>
          <a:xfrm>
            <a:off x="2018044" y="6007858"/>
            <a:ext cx="1321098" cy="517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500"/>
            </a:lvl1pPr>
          </a:lstStyle>
          <a:p>
            <a:pPr/>
            <a:r>
              <a:t>Evaluation metrics</a:t>
            </a:r>
          </a:p>
        </p:txBody>
      </p:sp>
      <p:pic>
        <p:nvPicPr>
          <p:cNvPr id="144" name="Graphic 32" descr="Graphic 32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399215" y="5305211"/>
            <a:ext cx="586767" cy="5867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45" name="Graphic 34" descr="Graphic 34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8154107" y="5204226"/>
            <a:ext cx="788735" cy="788735"/>
          </a:xfrm>
          <a:prstGeom prst="rect">
            <a:avLst/>
          </a:prstGeom>
          <a:ln w="12700">
            <a:miter lim="400000"/>
          </a:ln>
        </p:spPr>
      </p:pic>
      <p:sp>
        <p:nvSpPr>
          <p:cNvPr id="146" name="TextBox 37"/>
          <p:cNvSpPr txBox="1"/>
          <p:nvPr/>
        </p:nvSpPr>
        <p:spPr>
          <a:xfrm>
            <a:off x="1057881" y="6007858"/>
            <a:ext cx="1075642" cy="517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500"/>
            </a:lvl1pPr>
          </a:lstStyle>
          <a:p>
            <a:pPr/>
            <a:r>
              <a:t>Neural networks</a:t>
            </a:r>
          </a:p>
        </p:txBody>
      </p:sp>
      <p:pic>
        <p:nvPicPr>
          <p:cNvPr id="147" name="Graphic 50" descr="Graphic 50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1260574" y="5250631"/>
            <a:ext cx="695927" cy="695926"/>
          </a:xfrm>
          <a:prstGeom prst="rect">
            <a:avLst/>
          </a:prstGeom>
          <a:ln w="12700">
            <a:miter lim="400000"/>
          </a:ln>
        </p:spPr>
      </p:pic>
      <p:sp>
        <p:nvSpPr>
          <p:cNvPr id="148" name="TextBox 51"/>
          <p:cNvSpPr txBox="1"/>
          <p:nvPr/>
        </p:nvSpPr>
        <p:spPr>
          <a:xfrm>
            <a:off x="9062548" y="6007858"/>
            <a:ext cx="1075642" cy="517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500"/>
            </a:lvl1pPr>
          </a:lstStyle>
          <a:p>
            <a:pPr/>
            <a:r>
              <a:t>Targeted screening</a:t>
            </a:r>
          </a:p>
        </p:txBody>
      </p:sp>
      <p:sp>
        <p:nvSpPr>
          <p:cNvPr id="149" name="TextBox 52"/>
          <p:cNvSpPr txBox="1"/>
          <p:nvPr/>
        </p:nvSpPr>
        <p:spPr>
          <a:xfrm>
            <a:off x="11082609" y="6007858"/>
            <a:ext cx="1075642" cy="517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500"/>
            </a:lvl1pPr>
          </a:lstStyle>
          <a:p>
            <a:pPr/>
            <a:r>
              <a:t>Prioritize care</a:t>
            </a:r>
          </a:p>
        </p:txBody>
      </p:sp>
      <p:sp>
        <p:nvSpPr>
          <p:cNvPr id="150" name="TextBox 53"/>
          <p:cNvSpPr txBox="1"/>
          <p:nvPr/>
        </p:nvSpPr>
        <p:spPr>
          <a:xfrm>
            <a:off x="10067816" y="6007858"/>
            <a:ext cx="1075642" cy="517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500"/>
            </a:lvl1pPr>
          </a:lstStyle>
          <a:p>
            <a:pPr/>
            <a:r>
              <a:t>Actionable insight</a:t>
            </a:r>
          </a:p>
        </p:txBody>
      </p:sp>
      <p:sp>
        <p:nvSpPr>
          <p:cNvPr id="151" name="TextBox 54"/>
          <p:cNvSpPr txBox="1"/>
          <p:nvPr/>
        </p:nvSpPr>
        <p:spPr>
          <a:xfrm>
            <a:off x="7859450" y="6007858"/>
            <a:ext cx="1321098" cy="517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500"/>
            </a:lvl1pPr>
          </a:lstStyle>
          <a:p>
            <a:pPr/>
            <a:r>
              <a:t>Stroke-risk model</a:t>
            </a:r>
          </a:p>
        </p:txBody>
      </p:sp>
      <p:pic>
        <p:nvPicPr>
          <p:cNvPr id="152" name="Graphic 58" descr="Graphic 5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283417" y="5252542"/>
            <a:ext cx="692105" cy="692105"/>
          </a:xfrm>
          <a:prstGeom prst="rect">
            <a:avLst/>
          </a:prstGeom>
          <a:ln w="12700">
            <a:miter lim="400000"/>
          </a:ln>
        </p:spPr>
      </p:pic>
      <p:pic>
        <p:nvPicPr>
          <p:cNvPr id="153" name="Graphic 63" descr="Graphic 63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10347213" y="5306292"/>
            <a:ext cx="584606" cy="584606"/>
          </a:xfrm>
          <a:prstGeom prst="rect">
            <a:avLst/>
          </a:prstGeom>
          <a:ln w="12700">
            <a:miter lim="400000"/>
          </a:ln>
        </p:spPr>
      </p:pic>
      <p:pic>
        <p:nvPicPr>
          <p:cNvPr id="154" name="Graphic 65" descr="Graphic 65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11374332" y="5259649"/>
            <a:ext cx="677891" cy="677891"/>
          </a:xfrm>
          <a:prstGeom prst="rect">
            <a:avLst/>
          </a:prstGeom>
          <a:ln w="12700">
            <a:miter lim="400000"/>
          </a:ln>
        </p:spPr>
      </p:pic>
      <p:sp>
        <p:nvSpPr>
          <p:cNvPr id="155" name="TextBox 72"/>
          <p:cNvSpPr txBox="1"/>
          <p:nvPr/>
        </p:nvSpPr>
        <p:spPr>
          <a:xfrm>
            <a:off x="4307717" y="3606717"/>
            <a:ext cx="1075642" cy="517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500">
                <a:solidFill>
                  <a:srgbClr val="FFFFFF"/>
                </a:solidFill>
              </a:defRPr>
            </a:lvl1pPr>
          </a:lstStyle>
          <a:p>
            <a:pPr/>
            <a:r>
              <a:t>Logistic Regression</a:t>
            </a:r>
          </a:p>
        </p:txBody>
      </p:sp>
      <p:sp>
        <p:nvSpPr>
          <p:cNvPr id="156" name="TextBox 73"/>
          <p:cNvSpPr txBox="1"/>
          <p:nvPr/>
        </p:nvSpPr>
        <p:spPr>
          <a:xfrm>
            <a:off x="6223504" y="3606717"/>
            <a:ext cx="1321098" cy="7329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500">
                <a:solidFill>
                  <a:srgbClr val="FFFFFF"/>
                </a:solidFill>
              </a:defRPr>
            </a:lvl1pPr>
          </a:lstStyle>
          <a:p>
            <a:pPr/>
            <a:r>
              <a:t>Neural Network (FCNN)</a:t>
            </a:r>
          </a:p>
        </p:txBody>
      </p:sp>
      <p:sp>
        <p:nvSpPr>
          <p:cNvPr id="157" name="TextBox 74"/>
          <p:cNvSpPr txBox="1"/>
          <p:nvPr/>
        </p:nvSpPr>
        <p:spPr>
          <a:xfrm>
            <a:off x="5349066" y="3606717"/>
            <a:ext cx="1075642" cy="517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500">
                <a:solidFill>
                  <a:srgbClr val="FFFFFF"/>
                </a:solidFill>
              </a:defRPr>
            </a:lvl1pPr>
          </a:lstStyle>
          <a:p>
            <a:pPr/>
            <a:r>
              <a:t>Random Forest</a:t>
            </a:r>
          </a:p>
        </p:txBody>
      </p:sp>
      <p:pic>
        <p:nvPicPr>
          <p:cNvPr id="158" name="Graphic 76" descr="Graphic 76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4419725" y="2898157"/>
            <a:ext cx="830999" cy="830999"/>
          </a:xfrm>
          <a:prstGeom prst="rect">
            <a:avLst/>
          </a:prstGeom>
          <a:ln w="12700">
            <a:miter lim="400000"/>
          </a:ln>
        </p:spPr>
      </p:pic>
      <p:pic>
        <p:nvPicPr>
          <p:cNvPr id="159" name="Graphic 78" descr="Graphic 78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5543550" y="2970161"/>
            <a:ext cx="706488" cy="706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60" name="Graphic 80" descr="Graphic 80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6476438" y="2939949"/>
            <a:ext cx="706489" cy="706489"/>
          </a:xfrm>
          <a:prstGeom prst="rect">
            <a:avLst/>
          </a:prstGeom>
          <a:ln w="12700">
            <a:miter lim="400000"/>
          </a:ln>
        </p:spPr>
      </p:pic>
      <p:sp>
        <p:nvSpPr>
          <p:cNvPr id="161" name="TextBox 81"/>
          <p:cNvSpPr txBox="1"/>
          <p:nvPr/>
        </p:nvSpPr>
        <p:spPr>
          <a:xfrm>
            <a:off x="4641828" y="4430704"/>
            <a:ext cx="2329999" cy="442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171450" indent="-171450">
              <a:buSzPct val="100000"/>
              <a:buFont typeface="Arial"/>
              <a:buChar char="•"/>
              <a:defRPr sz="1200">
                <a:solidFill>
                  <a:srgbClr val="FFFFFF"/>
                </a:solidFill>
              </a:defRPr>
            </a:pPr>
            <a:r>
              <a:t>Parameter tuning</a:t>
            </a:r>
          </a:p>
          <a:p>
            <a:pPr marL="171450" indent="-171450">
              <a:buSzPct val="100000"/>
              <a:buFont typeface="Arial"/>
              <a:buChar char="•"/>
              <a:defRPr sz="1200">
                <a:solidFill>
                  <a:srgbClr val="FFFFFF"/>
                </a:solidFill>
              </a:defRPr>
            </a:pPr>
            <a:r>
              <a:t>Regularization </a:t>
            </a:r>
          </a:p>
        </p:txBody>
      </p:sp>
      <p:sp>
        <p:nvSpPr>
          <p:cNvPr id="162" name="TextBox 83"/>
          <p:cNvSpPr txBox="1"/>
          <p:nvPr/>
        </p:nvSpPr>
        <p:spPr>
          <a:xfrm>
            <a:off x="6138756" y="4448059"/>
            <a:ext cx="1106706" cy="442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171450" indent="-171450">
              <a:buSzPct val="100000"/>
              <a:buFont typeface="Arial"/>
              <a:buChar char="•"/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Cross-validation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itle 1"/>
          <p:cNvSpPr txBox="1"/>
          <p:nvPr>
            <p:ph type="title"/>
          </p:nvPr>
        </p:nvSpPr>
        <p:spPr>
          <a:xfrm>
            <a:off x="640078" y="281838"/>
            <a:ext cx="10890931" cy="1097282"/>
          </a:xfrm>
          <a:prstGeom prst="rect">
            <a:avLst/>
          </a:prstGeom>
        </p:spPr>
        <p:txBody>
          <a:bodyPr/>
          <a:lstStyle/>
          <a:p>
            <a:pPr/>
            <a:r>
              <a:t>ML-9 Team Project: Methods</a:t>
            </a:r>
          </a:p>
        </p:txBody>
      </p:sp>
      <p:sp>
        <p:nvSpPr>
          <p:cNvPr id="165" name="Content Placeholder 4"/>
          <p:cNvSpPr txBox="1"/>
          <p:nvPr>
            <p:ph type="body" sz="half" idx="1"/>
          </p:nvPr>
        </p:nvSpPr>
        <p:spPr>
          <a:xfrm>
            <a:off x="640078" y="1379119"/>
            <a:ext cx="5445466" cy="4854657"/>
          </a:xfrm>
          <a:prstGeom prst="rect">
            <a:avLst/>
          </a:prstGeom>
        </p:spPr>
        <p:txBody>
          <a:bodyPr/>
          <a:lstStyle/>
          <a:p>
            <a:pPr/>
            <a:r>
              <a:t>Examine Dataset for relationships, both linear (Logistic Regression) and non-linear (Random Forest)</a:t>
            </a:r>
          </a:p>
          <a:p>
            <a:pPr/>
            <a:r>
              <a:t>Train Fully Connected Neural Network using Keras and/or PyTorch </a:t>
            </a:r>
          </a:p>
          <a:p>
            <a:pPr/>
            <a:r>
              <a:t>Make use of GitHub Organizations Projects tool to drive production </a:t>
            </a:r>
          </a:p>
          <a:p>
            <a:pPr/>
            <a:r>
              <a:t>Use Google Colab to run ML models more efficiently</a:t>
            </a:r>
          </a:p>
          <a:p>
            <a:pPr/>
            <a:r>
              <a:t>Balance data using SMOTE </a:t>
            </a:r>
          </a:p>
        </p:txBody>
      </p:sp>
      <p:sp>
        <p:nvSpPr>
          <p:cNvPr id="166" name="Image Placeholder"/>
          <p:cNvSpPr/>
          <p:nvPr/>
        </p:nvSpPr>
        <p:spPr>
          <a:xfrm>
            <a:off x="6825680" y="1385469"/>
            <a:ext cx="4698978" cy="4087063"/>
          </a:xfrm>
          <a:prstGeom prst="rect">
            <a:avLst/>
          </a:prstGeom>
          <a:solidFill>
            <a:srgbClr val="0070C0"/>
          </a:solidFill>
          <a:ln w="19050">
            <a:solidFill>
              <a:srgbClr val="0070C0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Image Placeholder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0000FF"/>
      </a:hlink>
      <a:folHlink>
        <a:srgbClr val="FF00FF"/>
      </a:folHlink>
    </a:clrScheme>
    <a:fontScheme name="DashVTI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DashVT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0000FF"/>
      </a:hlink>
      <a:folHlink>
        <a:srgbClr val="FF00FF"/>
      </a:folHlink>
    </a:clrScheme>
    <a:fontScheme name="DashVTI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DashVT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